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8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rimson Pro Semi Bold" panose="020B0604020202020204" charset="0"/>
      <p:regular r:id="rId13"/>
    </p:embeddedFont>
    <p:embeddedFont>
      <p:font typeface="Heebo" pitchFamily="2" charset="-79"/>
      <p:regular r:id="rId14"/>
      <p:bold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0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118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516E27-5160-AD3C-0A5E-66629EDE5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1BD1F47-0494-9C76-FAA8-84DF02DE5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70D499-82DC-176D-392A-7A2130E2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653B82-B20D-9BC8-B0DB-3E7EDF68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48587-EB51-38C6-8CDC-1F2ED93C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4349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166A3-0797-9154-B7AD-48C2AAEF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B477CF-821D-A15A-50F2-359BE560B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C9D2AD-B8FF-8BA2-217D-FF5FB67C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E2B8F5-585C-5CE6-C97B-8178BD61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456C5A-3E0C-1605-8EC4-60A9B4F7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7377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BA6C1A-46AA-5E53-F2EB-0488D491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5431A7-358B-0C51-B1EB-9981CE9F0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EE0E1A-D106-CFC0-FCEB-06932E7D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F9276F-01ED-8410-E414-4154111E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F8B93E-CDDF-4747-34DA-C03000C7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0820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BA54D-4E20-D7BE-E7A7-D055F046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ECDD0-6A7C-43C2-A300-172E4D8E5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5FD96A-3F23-1691-C2E9-9B41EA919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40C28C-529B-8D4E-4318-0953C06D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6734C6-99FB-EB68-F33E-CFA233A8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8B9B22-575E-3E79-F3F5-6993BAAD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5687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B2AAC-C31B-7243-0323-2E722F5F0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A034C6-5006-57B2-1C37-105F74B47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F719CC-0CD0-708D-65EB-FDFA9CC2C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EC3A11F-2A6C-DCE8-FF1B-C38606F8A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24D81AB-53B6-7DB2-43E8-EF0D44A6F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51F0F4-7FEF-1906-34BE-DB63C85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D9AEA3-3C0B-066B-5151-D175A692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36AA29-879B-CD36-6794-F306B7C1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0570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6E1C8-8890-3C90-9F2F-92ABD5F9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94F6E6D-3E9C-6B2A-C8D0-5254AB69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ADC6E6-A862-7467-F6F1-EF5E464D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9371E0-EECD-56DC-CA66-17BCF72B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3336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AE629FB-47D7-02BF-2D2E-0343E3962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4F30AD5-BAF6-10C0-90DF-C62589EA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F476AE-9172-554E-1848-CAAB83B2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8480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3B5AB-4823-30BD-5E46-2D3A0E93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B371C8-EDCC-33BD-7B9A-9A71520C5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46DDD7-BF27-E155-11A2-F16B97939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69F592-3229-CF23-8EDF-CFB7A277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B2F9B6-9D83-097C-348E-1115731ED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066562-56CF-FAC4-8914-5442288B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9330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4609F-FB36-5BEA-6672-70C2986C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990A8B9-4D51-129B-0C10-5F5D2AAA7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F7E87F-4620-9397-C627-12F6037C7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F3CC17-FFEC-4D39-8DE1-784B7AA44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80833F-6788-C4BB-0023-1EE2D848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1EA9DB-EEB6-2A55-F10B-D37627E1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1689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F6793-4371-7F3E-13A1-18BCBD7E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E53CC0-B688-699E-DADD-06078F052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8CF5B5-B7FE-C3DC-C70E-190D81BD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95D22-AE7A-E7D3-1D96-D411126A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C5D230-218E-4038-3140-5AF2D4FA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404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7FB8223-DBD9-C119-5C7C-8B262508C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DEE4EC-64F2-155E-789F-432E1C187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BF47DF-9EDD-A655-6F93-AA081A7C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9F4DC7-BBC0-0698-B0FC-97CC117B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08BE1A-C744-98CA-51A2-5359B98F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5260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152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99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187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109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1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045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546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1596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464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96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F9C50-EC73-1A67-6A5E-D5A730C8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DBDFE3-6D79-E83A-0A61-4D18F995A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E07C3A-5ED4-8379-54E9-7B71C3D44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DEB15-2F88-4B5C-A065-A548C216AEC2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C42D2C-AC12-5F93-C625-04B5C2F9A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8A630E-27EE-1F50-27E8-DB6C9ADFD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BAF22-D6E9-4673-8120-9FC374C8F8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36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99" r:id="rId11"/>
    <p:sldLayoutId id="2147484000" r:id="rId12"/>
    <p:sldLayoutId id="2147484001" r:id="rId13"/>
    <p:sldLayoutId id="2147484002" r:id="rId14"/>
    <p:sldLayoutId id="2147484003" r:id="rId15"/>
    <p:sldLayoutId id="2147484004" r:id="rId16"/>
    <p:sldLayoutId id="2147484005" r:id="rId17"/>
    <p:sldLayoutId id="2147484006" r:id="rId18"/>
    <p:sldLayoutId id="2147484007" r:id="rId19"/>
    <p:sldLayoutId id="2147484008" r:id="rId20"/>
    <p:sldLayoutId id="2147484009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07483" y="1505956"/>
            <a:ext cx="4722763" cy="937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Интерактивный конструктор </a:t>
            </a: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образовательных</a:t>
            </a: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тестов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35944"/>
            <a:ext cx="4877305" cy="858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ru-RU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Дисциплина: Проектирование и разработка клиент-серверных приложений</a:t>
            </a:r>
            <a:br>
              <a:rPr lang="ru-RU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</a:br>
            <a:r>
              <a:rPr lang="ru-RU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Студент группы ИКБО-11-23 </a:t>
            </a:r>
            <a:br>
              <a:rPr lang="ru-RU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</a:br>
            <a:r>
              <a:rPr lang="ru-RU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Дицель Никита Сергеевич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653254" y="4648201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МИРЭА — Российский технологический университет, 2026</a:t>
            </a:r>
            <a:endParaRPr lang="en-US" sz="11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9BDFDF-E407-7BF9-28C1-95347E0D7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23095" y="268485"/>
            <a:ext cx="891540" cy="10058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01" y="546274"/>
            <a:ext cx="4764881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Актуальность и цель проекта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72901" y="1290489"/>
            <a:ext cx="2026816" cy="25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Актуальность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72901" y="1672605"/>
            <a:ext cx="2219771" cy="2879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FontTx/>
              <a:buChar char="‒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Рост онлайн-образования требует удобных инструментов контроля знаний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FontTx/>
              <a:buChar char="‒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Преподавателям необходимы средства создания, управления и анализа тестов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FontTx/>
              <a:buChar char="‒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Готовые сервисы не всегда обеспечивают гибкость и контроль над данными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FontTx/>
              <a:buChar char="‒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Требуется адаптируемое решение под специфику образовательного процесса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027090" y="1290489"/>
            <a:ext cx="2026816" cy="25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Цель проекта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027090" y="1672605"/>
            <a:ext cx="2219771" cy="147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Разработать клиент-серверное приложение для создания, прохождения и анализа образовательных тестов с распределением ролей и средствами визуализации результатов.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328"/>
            <a:ext cx="54592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Сравнительный анализ решений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089050"/>
            <a:ext cx="8151763" cy="2734047"/>
          </a:xfrm>
          <a:prstGeom prst="roundRect">
            <a:avLst>
              <a:gd name="adj" fmla="val 73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6389" y="1175296"/>
            <a:ext cx="24418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Решение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52279" y="1175296"/>
            <a:ext cx="243951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Преимущества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65788" y="1175296"/>
            <a:ext cx="24418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Ограничения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6389" y="1553096"/>
            <a:ext cx="24418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Moodle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52279" y="1553096"/>
            <a:ext cx="243951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Много функций, роли, тесты, открытый код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65788" y="1553096"/>
            <a:ext cx="2441897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Сложная настройка, высокий порог входа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6389" y="2140967"/>
            <a:ext cx="24418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Google Forms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2279" y="2140967"/>
            <a:ext cx="243951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Простота и доступность, быстрое развертывание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65788" y="2140967"/>
            <a:ext cx="2441897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Ограниченная ролевая модель, нет аналитики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6389" y="2728838"/>
            <a:ext cx="24418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Quizizz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2279" y="2728838"/>
            <a:ext cx="243951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Интерактивность, отчёты, игровые элементы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65788" y="2728838"/>
            <a:ext cx="2441897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Зависимость от внешнего сервиса, стоимость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6389" y="3316709"/>
            <a:ext cx="24418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Разрабатываемая система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2279" y="3316709"/>
            <a:ext cx="243951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Контроль данных, роли, CRUD, аналитика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65788" y="3316709"/>
            <a:ext cx="24418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Реализуется под задачи проекта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378"/>
            <a:ext cx="53887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Клиент-серверная архитектура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6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01</a:t>
            </a:r>
            <a:endParaRPr lang="en-US" sz="11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468785"/>
            <a:ext cx="2622724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577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84238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SPA с компонентной архитектурой и управлением состоянием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246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02</a:t>
            </a:r>
            <a:endParaRPr lang="en-US" sz="11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60601" y="1468785"/>
            <a:ext cx="2622724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1577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HTTP-клиент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18842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Axios для взаимодействия с REST API и управления запросами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246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03</a:t>
            </a:r>
            <a:endParaRPr lang="en-US" sz="11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25083" y="1468785"/>
            <a:ext cx="2622724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1577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1884238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Express.js REST API с маршрутизацией, middleware и обработкой запросов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281270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04</a:t>
            </a:r>
            <a:endParaRPr lang="en-US" sz="11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6119" y="3034605"/>
            <a:ext cx="4004965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1435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ORM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45005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Sequelize для работы с базой данных и управления моделями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281270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2" charset="-79"/>
                <a:ea typeface="Crimson Pro Light" pitchFamily="34" charset="-122"/>
                <a:cs typeface="Heebo" pitchFamily="2" charset="-79"/>
              </a:rPr>
              <a:t>05</a:t>
            </a:r>
            <a:endParaRPr lang="en-US" sz="11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42842" y="3034605"/>
            <a:ext cx="4004965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1435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База данных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45005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PostgreSQL хранит пользователей, тесты, вопросы и результаты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120" y="4169420"/>
            <a:ext cx="7807622" cy="31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Система контейнеризирована с помощью Docker, использует Nginx для маршрутизации и развёрнута в облаке на Render.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022" y="194890"/>
            <a:ext cx="2075631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Моделирование системы</a:t>
            </a:r>
            <a:endParaRPr lang="en-US" sz="28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3BF282D-1D68-EB22-5C31-3106D150A0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86" t="22032" r="1980" b="19751"/>
          <a:stretch>
            <a:fillRect/>
          </a:stretch>
        </p:blipFill>
        <p:spPr>
          <a:xfrm>
            <a:off x="216247" y="621370"/>
            <a:ext cx="4370124" cy="210917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1471C07-6977-213D-F2FE-29AE3BFBA8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08" t="15384" r="2990" b="8350"/>
          <a:stretch>
            <a:fillRect/>
          </a:stretch>
        </p:blipFill>
        <p:spPr>
          <a:xfrm>
            <a:off x="2991555" y="2513110"/>
            <a:ext cx="4370124" cy="240356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377BCC2-AE6C-B294-7967-C16A53434A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08" t="2854" r="2591" b="2227"/>
          <a:stretch>
            <a:fillRect/>
          </a:stretch>
        </p:blipFill>
        <p:spPr bwMode="auto">
          <a:xfrm>
            <a:off x="6085735" y="226822"/>
            <a:ext cx="2551889" cy="24566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2558"/>
            <a:ext cx="57285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Структура базы данных и ролевая модель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43657"/>
            <a:ext cx="170118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Основные сущности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6119" y="1358280"/>
            <a:ext cx="1923380" cy="1013073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1831" y="1358280"/>
            <a:ext cx="57150" cy="1013073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666676" y="1485974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6676" y="1753865"/>
            <a:ext cx="1625129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Пользователи системы, роли, учётные данные, профили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0210" y="1358280"/>
            <a:ext cx="1923455" cy="1013073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5922" y="1358280"/>
            <a:ext cx="57150" cy="1013073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2680767" y="1485974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80767" y="1753865"/>
            <a:ext cx="1625203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Образовательные тесты, настройки, тайминг, параметры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6119" y="2462064"/>
            <a:ext cx="1923380" cy="1013073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31" y="2462064"/>
            <a:ext cx="57150" cy="1013073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666676" y="2589758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6676" y="2857649"/>
            <a:ext cx="1625129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Вопросы разных типов, варианты ответов, правильные решения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10210" y="2462064"/>
            <a:ext cx="1923455" cy="1013073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5922" y="2462064"/>
            <a:ext cx="57150" cy="1013073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2680767" y="2589758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test_results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80767" y="2857649"/>
            <a:ext cx="1625203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Результаты прохождения, оценки, время, статистика ответов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15098" y="1043657"/>
            <a:ext cx="170118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Ролевая модель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15098" y="1358280"/>
            <a:ext cx="1923380" cy="984498"/>
          </a:xfrm>
          <a:prstGeom prst="roundRect">
            <a:avLst>
              <a:gd name="adj" fmla="val 1728"/>
            </a:avLst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505" y="1471687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Студент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505" y="1739578"/>
            <a:ext cx="1696566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Просмотр доступных тестов, прохождение, получение результатов и оценок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29189" y="1358280"/>
            <a:ext cx="1923455" cy="984498"/>
          </a:xfrm>
          <a:prstGeom prst="roundRect">
            <a:avLst>
              <a:gd name="adj" fmla="val 1728"/>
            </a:avLst>
          </a:prstGeom>
          <a:solidFill>
            <a:srgbClr val="04318F"/>
          </a:solidFill>
          <a:ln/>
        </p:spPr>
      </p:sp>
      <p:sp>
        <p:nvSpPr>
          <p:cNvPr id="29" name="Text 27"/>
          <p:cNvSpPr/>
          <p:nvPr/>
        </p:nvSpPr>
        <p:spPr>
          <a:xfrm>
            <a:off x="6842596" y="1471687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Преподаватель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2596" y="1739578"/>
            <a:ext cx="1696641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Создание и редактирование тестов, анализ результатов, экспорт отчётов в PDF/Excel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15098" y="2433489"/>
            <a:ext cx="3937546" cy="821234"/>
          </a:xfrm>
          <a:prstGeom prst="roundRect">
            <a:avLst>
              <a:gd name="adj" fmla="val 207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2" name="Text 30"/>
          <p:cNvSpPr/>
          <p:nvPr/>
        </p:nvSpPr>
        <p:spPr>
          <a:xfrm>
            <a:off x="4828505" y="2546896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28505" y="2814786"/>
            <a:ext cx="3710732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Управление пользователями, назначение ролей, настройка системы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206"/>
            <a:ext cx="4710187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Реализованный функционал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84300"/>
            <a:ext cx="1056754" cy="10567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400970"/>
            <a:ext cx="1701998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Прохождение тестов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96119" y="2688059"/>
            <a:ext cx="1917948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Интерфейс прохождения с таймером, навигацией по вопросам, подсветкой результатов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982" y="1184300"/>
            <a:ext cx="1056829" cy="10568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3982" y="240104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Конструктор тестов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573982" y="2688134"/>
            <a:ext cx="1918022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CRUD для тестов и вопросов, добавление типов вопросов, настройка параметров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921" y="1184300"/>
            <a:ext cx="1056829" cy="10568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51921" y="2401044"/>
            <a:ext cx="1916534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Аналитика результатов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651921" y="2688134"/>
            <a:ext cx="1918022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Визуализация статистики, фильтрация, экспорт в PDF и Excel, сравнение результатов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859" y="1184300"/>
            <a:ext cx="1056829" cy="10568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29859" y="2401044"/>
            <a:ext cx="1718742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Администрирование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729859" y="2688134"/>
            <a:ext cx="1918022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Управление пользователями, роли, настройки системы, логи, мониторинг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927050" y="3718620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Аутентификация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927050" y="4005709"/>
            <a:ext cx="2179662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Регистрация, авторизация и JWT-токены для защиты API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3697560" y="3718620"/>
            <a:ext cx="183013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Swagger-документация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697560" y="4005709"/>
            <a:ext cx="2179737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Автоматическая генерация документации REST API с примерами запросов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468145" y="3718620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Healthcheck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68145" y="4005709"/>
            <a:ext cx="2179737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Эндпоинт проверки работоспособности сервиса и зависимостей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779"/>
            <a:ext cx="366995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DevOps-подход и 12 факторов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3507"/>
            <a:ext cx="531614" cy="637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7430" y="101977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Git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07430" y="1233636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Исходный код в репозитории с версионированием и ветвлением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551459"/>
            <a:ext cx="531614" cy="6379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7430" y="165772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Конфигурация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07430" y="1871588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Переменные окружения для настройки в разных средах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189411"/>
            <a:ext cx="531614" cy="6379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7430" y="2295674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Сервисы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107430" y="2509540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Frontend, backend, PostgreSQL, Nginx как отдельные контейнеры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827362"/>
            <a:ext cx="531614" cy="6379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07430" y="293362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Docker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07430" y="3147492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Dockerfile и Docker Compose для переносимости и воспроизводимости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465314"/>
            <a:ext cx="531614" cy="6379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07430" y="357157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Cloud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1107430" y="3785443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Render для облачного развёртывания и автоматического деплоя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496119" y="4192935"/>
            <a:ext cx="8151763" cy="528786"/>
          </a:xfrm>
          <a:prstGeom prst="roundRect">
            <a:avLst>
              <a:gd name="adj" fmla="val 3016"/>
            </a:avLst>
          </a:prstGeom>
          <a:solidFill>
            <a:srgbClr val="B6D6FC"/>
          </a:solidFill>
          <a:ln/>
        </p:spPr>
      </p:sp>
      <p:sp>
        <p:nvSpPr>
          <p:cNvPr id="20" name="Text 12"/>
          <p:cNvSpPr/>
          <p:nvPr/>
        </p:nvSpPr>
        <p:spPr>
          <a:xfrm>
            <a:off x="554288" y="4299198"/>
            <a:ext cx="809359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Подход полностью соответствует принципам 12-factor app: код как база, конфигурация через переменные, явные зависимости, переносимость между средами, </a:t>
            </a:r>
            <a:r>
              <a:rPr lang="en-US" sz="800" dirty="0" err="1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логирование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быстрый старт и остановка.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80851"/>
            <a:ext cx="2329979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Тестирование и CI/CD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80640" y="800249"/>
            <a:ext cx="1592387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Стратегия тестирования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0640" y="1030709"/>
            <a:ext cx="2383110" cy="625971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388" y="1129457"/>
            <a:ext cx="1115839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Модульные тесты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79388" y="1325166"/>
            <a:ext cx="2185615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Jest для тестирования логики React-компонентов и утилит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919933" y="1030709"/>
            <a:ext cx="2383185" cy="625971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8681" y="1129457"/>
            <a:ext cx="144140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Тестирование интерфейса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18681" y="1325166"/>
            <a:ext cx="2185690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Testing Library для проверки отображения и взаимодействия UI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80640" y="1712863"/>
            <a:ext cx="2383110" cy="625971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9388" y="1811610"/>
            <a:ext cx="1115839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API-тесты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9388" y="2007319"/>
            <a:ext cx="2185615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Supertest для проверки REST endpoints, статусов и ответов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19933" y="1712863"/>
            <a:ext cx="2383185" cy="625971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8681" y="1811610"/>
            <a:ext cx="1115839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Фаззинг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8681" y="2007319"/>
            <a:ext cx="2185690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Тестирование на граничные значения и нестандартные входные данные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25616" y="800249"/>
            <a:ext cx="1339007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25616" y="1023714"/>
            <a:ext cx="3142431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Пайплайн автоматизирует: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25616" y="1190624"/>
            <a:ext cx="3219437" cy="1148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Tx/>
              <a:buChar char="‒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Запуск тестов при push в ветку</a:t>
            </a:r>
            <a:endParaRPr lang="en-US" sz="1200" dirty="0"/>
          </a:p>
          <a:p>
            <a:pPr marL="342900" indent="-342900" algn="l">
              <a:lnSpc>
                <a:spcPct val="150000"/>
              </a:lnSpc>
              <a:buSzPct val="100000"/>
              <a:buFontTx/>
              <a:buChar char="‒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Сборку Docker-образов</a:t>
            </a:r>
            <a:endParaRPr lang="en-US" sz="1200" dirty="0"/>
          </a:p>
          <a:p>
            <a:pPr marL="342900" indent="-342900" algn="l">
              <a:lnSpc>
                <a:spcPct val="150000"/>
              </a:lnSpc>
              <a:buSzPct val="100000"/>
              <a:buFontTx/>
              <a:buChar char="‒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Публикацию в Docker Hub</a:t>
            </a:r>
            <a:endParaRPr lang="en-US" sz="1200" dirty="0"/>
          </a:p>
          <a:p>
            <a:pPr marL="342900" indent="-342900" algn="l">
              <a:lnSpc>
                <a:spcPct val="150000"/>
              </a:lnSpc>
              <a:buSzPct val="100000"/>
              <a:buFontTx/>
              <a:buChar char="‒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Деплой на Render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590" y="2465189"/>
            <a:ext cx="5318745" cy="229738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181790" y="4182196"/>
            <a:ext cx="789733" cy="14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Тесты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181790" y="4366944"/>
            <a:ext cx="789733" cy="18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Jest и Supertest выполняются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209620" y="4182196"/>
            <a:ext cx="789733" cy="14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Push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209620" y="4366944"/>
            <a:ext cx="789733" cy="18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Отправка образа в Docker Hub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2170391" y="2672491"/>
            <a:ext cx="789733" cy="14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GitHub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170391" y="2857238"/>
            <a:ext cx="789733" cy="18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Триггер CI при push/PR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190893" y="2672491"/>
            <a:ext cx="789733" cy="14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Deploy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90893" y="2857238"/>
            <a:ext cx="789733" cy="18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Развёртывание на Render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208290" y="2672491"/>
            <a:ext cx="789733" cy="14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Docker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208290" y="2857238"/>
            <a:ext cx="789733" cy="18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Сборка образа приложения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44"/>
          <p:cNvSpPr/>
          <p:nvPr/>
        </p:nvSpPr>
        <p:spPr>
          <a:xfrm>
            <a:off x="2414141" y="2296783"/>
            <a:ext cx="4188619" cy="485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2150FE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Спасибо за внимание!</a:t>
            </a:r>
            <a:endParaRPr lang="en-US" sz="3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578</Words>
  <Application>Microsoft Office PowerPoint</Application>
  <PresentationFormat>Экран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Crimson Pro Semi Bold</vt:lpstr>
      <vt:lpstr>Aptos Display</vt:lpstr>
      <vt:lpstr>Heebo</vt:lpstr>
      <vt:lpstr>Arial</vt:lpstr>
      <vt:lpstr>Aptos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Никита Дицель</cp:lastModifiedBy>
  <cp:revision>57</cp:revision>
  <dcterms:created xsi:type="dcterms:W3CDTF">2026-05-06T20:25:46Z</dcterms:created>
  <dcterms:modified xsi:type="dcterms:W3CDTF">2026-05-13T10:28:31Z</dcterms:modified>
</cp:coreProperties>
</file>